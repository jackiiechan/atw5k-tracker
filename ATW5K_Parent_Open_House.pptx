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Growth</c:v>
                </c:pt>
              </c:strCache>
            </c:strRef>
          </c:tx>
          <c:spPr>
            <a:ln w="38100">
              <a:solidFill>
                <a:srgbClr val="1A25E6"/>
              </a:solidFill>
            </a:ln>
          </c:spPr>
          <c:marker>
            <c:symbol val="circle"/>
            <c:size val="10"/>
            <c:spPr>
              <a:solidFill>
                <a:srgbClr val="1A25E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Cora</c:v>
                </c:pt>
                <c:pt idx="1">
                  <c:v>Grace</c:v>
                </c:pt>
                <c:pt idx="2">
                  <c:v>Ari</c:v>
                </c:pt>
                <c:pt idx="3">
                  <c:v>Cameron</c:v>
                </c:pt>
                <c:pt idx="4">
                  <c:v>Olivia</c:v>
                </c:pt>
                <c:pt idx="5">
                  <c:v>Nayel</c:v>
                </c:pt>
                <c:pt idx="6">
                  <c:v>Lucia</c:v>
                </c:pt>
                <c:pt idx="7">
                  <c:v>Mia</c:v>
                </c:pt>
                <c:pt idx="8">
                  <c:v>Sophie</c:v>
                </c:pt>
                <c:pt idx="9">
                  <c:v>Emma</c:v>
                </c:pt>
                <c:pt idx="10">
                  <c:v>Lulu</c:v>
                </c:pt>
                <c:pt idx="11">
                  <c:v>Rexa</c:v>
                </c:pt>
                <c:pt idx="12">
                  <c:v>Jojo</c:v>
                </c:pt>
                <c:pt idx="13">
                  <c:v>Rev</c:v>
                </c:pt>
                <c:pt idx="14">
                  <c:v>Lorenzo</c:v>
                </c:pt>
                <c:pt idx="15">
                  <c:v>Hana</c:v>
                </c:pt>
                <c:pt idx="16">
                  <c:v>Sabrina</c:v>
                </c:pt>
                <c:pt idx="17">
                  <c:v>Arthur</c:v>
                </c:pt>
                <c:pt idx="18">
                  <c:v>Graham</c:v>
                </c:pt>
                <c:pt idx="19">
                  <c:v>Annalise</c:v>
                </c:pt>
                <c:pt idx="20">
                  <c:v>Caleb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11</c:v>
                </c:pt>
                <c:pt idx="1">
                  <c:v>11</c:v>
                </c:pt>
                <c:pt idx="2">
                  <c:v>18</c:v>
                </c:pt>
                <c:pt idx="3">
                  <c:v>20</c:v>
                </c:pt>
                <c:pt idx="4">
                  <c:v>22</c:v>
                </c:pt>
                <c:pt idx="5">
                  <c:v>22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38</c:v>
                </c:pt>
                <c:pt idx="12">
                  <c:v>38</c:v>
                </c:pt>
                <c:pt idx="13">
                  <c:v>38</c:v>
                </c:pt>
                <c:pt idx="14">
                  <c:v>40</c:v>
                </c:pt>
                <c:pt idx="15">
                  <c:v>43</c:v>
                </c:pt>
                <c:pt idx="16">
                  <c:v>43</c:v>
                </c:pt>
                <c:pt idx="17">
                  <c:v>43</c:v>
                </c:pt>
                <c:pt idx="18">
                  <c:v>67</c:v>
                </c:pt>
                <c:pt idx="19">
                  <c:v>100</c:v>
                </c:pt>
                <c:pt idx="20">
                  <c:v>150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2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08D"/>
                </a:solidFill>
              </a:defRPr>
            </a:pPr>
          </a:p>
        </c:txPr>
        <c:crossAx val="2118791784"/>
        <c:crosses val="autoZero"/>
        <c:majorUnit val="2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FFFFFF"/>
                </a:solidFill>
                <a:latin typeface="Trebuchet MS"/>
              </a:defRPr>
            </a:pPr>
            <a:r>
              <a:t>ALL AROUND THE WORLD 5K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0" i="0">
                <a:solidFill>
                  <a:srgbClr val="D0D8F0"/>
                </a:solidFill>
                <a:latin typeface="Calibri"/>
              </a:defRPr>
            </a:pPr>
            <a:r>
              <a:t>Parent Open 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1">
                <a:solidFill>
                  <a:srgbClr val="8DA0D4"/>
                </a:solidFill>
                <a:latin typeface="Calibri"/>
              </a:defRPr>
            </a:pPr>
            <a:r>
              <a:t>Building grit, endurance, and self-belief — one lap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 i="0">
                <a:solidFill>
                  <a:srgbClr val="7078A0"/>
                </a:solidFill>
                <a:latin typeface="Calibri"/>
              </a:defRPr>
            </a:pPr>
            <a:r>
              <a:t>Spring 2026  •  Weeks 1–11  •  LifeCore Workshop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A0E6B"/>
                </a:solidFill>
                <a:latin typeface="Trebuchet MS"/>
              </a:defRPr>
            </a:pPr>
            <a:r>
              <a:t>Why a 5K Workshop?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1A25E6"/>
                </a:solidFill>
                <a:latin typeface="Calibri"/>
              </a:defRPr>
            </a:pPr>
            <a:r>
              <a:t>THE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This isn't a PE class. It's an 11-week training program designed to teach elementary students that hard things become possible when you show up, stay consistent, and push through discomfort.</a:t>
            </a:r>
            <a:br/>
            <a:br/>
            <a:r>
              <a:t>Every child will train to run a full 5K (3.1 miles) by the end of the program. Along the way, they learn pacing strategy, goal-setting, and what it feels like to earn something difficult.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1A25E6"/>
                </a:solidFill>
                <a:latin typeface="Calibri"/>
              </a:defRPr>
            </a:pPr>
            <a:r>
              <a:t>WHAT MAKES IT DIFFERENT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5720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Story-driven experience: Each week, students "travel" to a new global destination — Austin, Sydney, London — earning relics as they train.</a:t>
            </a:r>
            <a:br/>
            <a:br/>
            <a:r>
              <a:t>Team competition: Operation Lap Wars puts students on teams where every lap counts toward claiming territory on a world map.</a:t>
            </a:r>
            <a:br/>
            <a:br/>
            <a:r>
              <a:t>Real coaching: Structured sets, pacing cards, and individualized targets — not just "go run."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A0E6B"/>
                </a:solidFill>
                <a:latin typeface="Trebuchet MS"/>
              </a:defRPr>
            </a:pPr>
            <a:r>
              <a:t>The Grit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1">
                <a:solidFill>
                  <a:srgbClr val="6B708D"/>
                </a:solidFill>
                <a:latin typeface="Calibri"/>
              </a:defRPr>
            </a:pPr>
            <a:r>
              <a:t>"Grit is passion and perseverance for long-term goals."  — Angela Duckworth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109728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A25E6"/>
                </a:solidFill>
                <a:latin typeface="Trebuchet MS"/>
              </a:defRPr>
            </a:pPr>
            <a:r>
              <a:t>SHOW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8346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Every session matters. Students learn that consistency — not talent — is what builds endurance. Missing one week means your body resets.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01168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2011680"/>
            <a:ext cx="3383280" cy="109728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3774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A25E6"/>
                </a:solidFill>
                <a:latin typeface="Trebuchet MS"/>
              </a:defRPr>
            </a:pPr>
            <a:r>
              <a:t>PUSH 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017520"/>
            <a:ext cx="28346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When legs burn and lungs ache, the voice that says "keep going" is the one we're training. That voice carries into math tests, music practice, and friendships.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383280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00C8FF"/>
                </a:solidFill>
                <a:latin typeface="Trebuchet MS"/>
              </a:defRPr>
            </a:pPr>
            <a:r>
              <a:t>EARN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017520"/>
            <a:ext cx="28346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Nothing is handed to them. Relics are earned through laps. Titles are earned through effort. The 5K finish line is earned through 11 weeks of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FFFFFF"/>
                </a:solidFill>
                <a:latin typeface="Trebuchet MS"/>
              </a:defRPr>
            </a:pPr>
            <a:r>
              <a:t>From the Track to Real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0C8FF"/>
                </a:solidFill>
                <a:latin typeface="Calibri"/>
              </a:defRPr>
            </a:pPr>
            <a:r>
              <a:t>IN THE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2344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 i="0">
                <a:solidFill>
                  <a:srgbClr val="6B70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234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0C8FF"/>
                </a:solidFill>
                <a:latin typeface="Calibri"/>
              </a:defRPr>
            </a:pPr>
            <a:r>
              <a:t>IN LIFE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91640"/>
            <a:ext cx="9692640" cy="18288"/>
          </a:xfrm>
          <a:prstGeom prst="rect">
            <a:avLst/>
          </a:prstGeom>
          <a:solidFill>
            <a:srgbClr val="3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43891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 b="0" i="0">
                <a:solidFill>
                  <a:srgbClr val="FFFFFF"/>
                </a:solidFill>
                <a:latin typeface="Georgia"/>
              </a:defRPr>
            </a:pPr>
            <a:r>
              <a:t>Start slow. Don’t burn out in the first mile.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11679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0">
                <a:solidFill>
                  <a:srgbClr val="6B70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defRPr sz="1500" b="0" i="0">
                <a:solidFill>
                  <a:srgbClr val="C0CAE8"/>
                </a:solidFill>
                <a:latin typeface="Calibri"/>
              </a:defRPr>
            </a:pPr>
            <a:r>
              <a:t>Tackle big goals in small steps. Protect your energy for the long haul.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926079"/>
            <a:ext cx="9692640" cy="13716"/>
          </a:xfrm>
          <a:prstGeom prst="rect">
            <a:avLst/>
          </a:prstGeom>
          <a:solidFill>
            <a:srgbClr val="3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43891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 b="0" i="0">
                <a:solidFill>
                  <a:srgbClr val="FFFFFF"/>
                </a:solidFill>
                <a:latin typeface="Georgia"/>
              </a:defRPr>
            </a:pPr>
            <a:r>
              <a:t>Pace yourself — not too fast, not too slow.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154679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0">
                <a:solidFill>
                  <a:srgbClr val="6B70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defRPr sz="1500" b="0" i="0">
                <a:solidFill>
                  <a:srgbClr val="C0CAE8"/>
                </a:solidFill>
                <a:latin typeface="Calibri"/>
              </a:defRPr>
            </a:pPr>
            <a:r>
              <a:t>Work at a sustainable rhythm. The goal is consistency, not intensity.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069080"/>
            <a:ext cx="9692640" cy="13716"/>
          </a:xfrm>
          <a:prstGeom prst="rect">
            <a:avLst/>
          </a:prstGeom>
          <a:solidFill>
            <a:srgbClr val="3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43891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 b="0" i="0">
                <a:solidFill>
                  <a:srgbClr val="FFFFFF"/>
                </a:solidFill>
                <a:latin typeface="Georgia"/>
              </a:defRPr>
            </a:pPr>
            <a:r>
              <a:t>When your body says stop, your training says keep going.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2976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0">
                <a:solidFill>
                  <a:srgbClr val="6B70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defRPr sz="1500" b="0" i="0">
                <a:solidFill>
                  <a:srgbClr val="C0CAE8"/>
                </a:solidFill>
                <a:latin typeface="Calibri"/>
              </a:defRPr>
            </a:pPr>
            <a:r>
              <a:t>Grit isn’t about ignoring hard things. It’s about building the muscle to push through them.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5212080"/>
            <a:ext cx="9692640" cy="13716"/>
          </a:xfrm>
          <a:prstGeom prst="rect">
            <a:avLst/>
          </a:prstGeom>
          <a:solidFill>
            <a:srgbClr val="3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43891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 b="0" i="0">
                <a:solidFill>
                  <a:srgbClr val="FFFFFF"/>
                </a:solidFill>
                <a:latin typeface="Georgia"/>
              </a:defRPr>
            </a:pPr>
            <a:r>
              <a:t>Finish strong — because you planned for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4406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0">
                <a:solidFill>
                  <a:srgbClr val="6B70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303520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defRPr sz="1500" b="0" i="0">
                <a:solidFill>
                  <a:srgbClr val="C0CAE8"/>
                </a:solidFill>
                <a:latin typeface="Calibri"/>
              </a:defRPr>
            </a:pPr>
            <a:r>
              <a:t>People who follow through consistently outperform those who go all-in and burn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A0E6B"/>
                </a:solidFill>
                <a:latin typeface="Trebuchet MS"/>
              </a:defRPr>
            </a:pPr>
            <a:r>
              <a:t>Where They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6B708D"/>
                </a:solidFill>
                <a:latin typeface="Calibri"/>
              </a:defRPr>
            </a:pPr>
            <a:r>
              <a:t>Week 1 Baseline  •  35 minutes  •  22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 i="0">
                <a:solidFill>
                  <a:srgbClr val="1A25E6"/>
                </a:solidFill>
                <a:latin typeface="Trebuchet MS"/>
              </a:defRPr>
            </a:pPr>
            <a:r>
              <a:t>7.9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Average Laps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6B708D"/>
                </a:solidFill>
                <a:latin typeface="Calibri"/>
              </a:defRPr>
            </a:pPr>
            <a:r>
              <a:t>per student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645920"/>
            <a:ext cx="24688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 i="0">
                <a:solidFill>
                  <a:srgbClr val="1A25E6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Lowest Laps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6B708D"/>
                </a:solidFill>
                <a:latin typeface="Calibri"/>
              </a:defRPr>
            </a:pPr>
            <a:r>
              <a:t>(Caleb)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4688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 i="0">
                <a:solidFill>
                  <a:srgbClr val="1A25E6"/>
                </a:solidFill>
                <a:latin typeface="Trebuchet MS"/>
              </a:defRPr>
            </a:pPr>
            <a: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Highest Laps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6B708D"/>
                </a:solidFill>
                <a:latin typeface="Calibri"/>
              </a:defRPr>
            </a:pPr>
            <a:r>
              <a:t>(Ari)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645920"/>
            <a:ext cx="24688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3736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 i="0">
                <a:solidFill>
                  <a:srgbClr val="1A25E6"/>
                </a:solidFill>
                <a:latin typeface="Trebuchet MS"/>
              </a:defRPr>
            </a:pPr>
            <a:r>
              <a:t>1.58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517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Avg Miles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017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6B708D"/>
                </a:solidFill>
                <a:latin typeface="Calibri"/>
              </a:defRPr>
            </a:pPr>
            <a:r>
              <a:t>per student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10149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1A25E6"/>
                </a:solidFill>
                <a:latin typeface="Calibri"/>
              </a:defRPr>
            </a:pPr>
            <a:r>
              <a:t>BASELINE LAP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10149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t>4 laps: Caleb  •  5 laps: Annalise  •  6 laps: Graham  •  7 laps: Hana, Arthur, Sabrina  •  8 laps: Lulu, Lucia, Rexa, Mia, Sophie, Jojo, Rev, Emma  •  9 laps: Cora, Olivia, Grace, Nayel  •  10 laps: Cameron, Lorenzo  •  11 laps: 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A0E6B"/>
                </a:solidFill>
                <a:latin typeface="Trebuchet MS"/>
              </a:defRPr>
            </a:pPr>
            <a:r>
              <a:t>Where They Are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6B708D"/>
                </a:solidFill>
                <a:latin typeface="Calibri"/>
              </a:defRPr>
            </a:pPr>
            <a:r>
              <a:t>Week 4 Session  •  30 minutes  •  22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182880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 i="0">
                <a:solidFill>
                  <a:srgbClr val="FFFFFF"/>
                </a:solidFill>
                <a:latin typeface="Trebuchet MS"/>
              </a:defRPr>
            </a:pPr>
            <a:r>
              <a:t>10.8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Average Laps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C0CAE8"/>
                </a:solidFill>
                <a:latin typeface="Calibri"/>
              </a:defRPr>
            </a:pPr>
            <a:r>
              <a:t>+36% from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645920"/>
            <a:ext cx="2468880" cy="182880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 i="0">
                <a:solidFill>
                  <a:srgbClr val="FFFFFF"/>
                </a:solidFill>
                <a:latin typeface="Trebuchet MS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Hit 10+ Laps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C0CAE8"/>
                </a:solidFill>
                <a:latin typeface="Calibri"/>
              </a:defRPr>
            </a:pPr>
            <a:r>
              <a:t>every single student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468880" cy="182880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 i="0">
                <a:solidFill>
                  <a:srgbClr val="FFFFFF"/>
                </a:solidFill>
                <a:latin typeface="Trebuchet MS"/>
              </a:defRPr>
            </a:pPr>
            <a:r>
              <a:t>237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Total Team Laps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C0CAE8"/>
                </a:solidFill>
                <a:latin typeface="Calibri"/>
              </a:defRPr>
            </a:pPr>
            <a:r>
              <a:t>in 30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645920"/>
            <a:ext cx="2468880" cy="182880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37360"/>
            <a:ext cx="2468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 i="0">
                <a:solidFill>
                  <a:srgbClr val="FFFFFF"/>
                </a:solidFill>
                <a:latin typeface="Trebuchet MS"/>
              </a:defRPr>
            </a:pPr>
            <a:r>
              <a:t>2.15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5176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Avg Miles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017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C0CAE8"/>
                </a:solidFill>
                <a:latin typeface="Calibri"/>
              </a:defRPr>
            </a:pPr>
            <a:r>
              <a:t>per student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0A0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114800"/>
            <a:ext cx="9784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0C8FF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9784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Students ran more laps in less time. The baseline gave them 35 minutes. Week 4 gave them only 30 minutes — and every single student still hit at least 10 laps. This isn't just fitness improvement. It's pacing, mental toughness, and the willingness to push when it gets hard.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A0E6B"/>
                </a:solidFill>
                <a:latin typeface="Trebuchet MS"/>
              </a:defRPr>
            </a:pPr>
            <a:r>
              <a:t>Growth Spotlights — Top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1">
                <a:solidFill>
                  <a:srgbClr val="6B708D"/>
                </a:solidFill>
                <a:latin typeface="Calibri"/>
              </a:defRPr>
            </a:pPr>
            <a:r>
              <a:t>Ranked by percentage growth from Week 1 baseline to Week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26060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0A0E6B"/>
                </a:solidFill>
                <a:latin typeface="Trebuchet MS"/>
              </a:defRPr>
            </a:pPr>
            <a:r>
              <a:t>Caleb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4591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 i="0">
                <a:solidFill>
                  <a:srgbClr val="00C8FF"/>
                </a:solidFill>
                <a:latin typeface="Calibri"/>
              </a:defRPr>
            </a:pPr>
            <a:r>
              <a:t>+150%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5E6"/>
                </a:solidFill>
                <a:latin typeface="Trebuchet MS"/>
              </a:rPr>
              <a:t>4</a:t>
            </a:r>
            <a:r>
              <a:rPr sz="1800" b="0" i="0">
                <a:solidFill>
                  <a:srgbClr val="6B708D"/>
                </a:solidFill>
                <a:latin typeface="Calibri"/>
              </a:rPr>
              <a:t>  →  </a:t>
            </a:r>
            <a:r>
              <a:rPr sz="3600" b="1" i="0">
                <a:solidFill>
                  <a:srgbClr val="1A25E6"/>
                </a:solidFill>
                <a:latin typeface="Trebuchet MS"/>
              </a:rPr>
              <a:t>10</a:t>
            </a:r>
            <a:r>
              <a:rPr sz="1100" b="0" i="0">
                <a:solidFill>
                  <a:srgbClr val="6B708D"/>
                </a:solidFill>
                <a:latin typeface="Calibri"/>
              </a:rPr>
              <a:t> laps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1920239" cy="164592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199" y="274320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A25E6"/>
                </a:solidFill>
                <a:latin typeface="Calibri"/>
              </a:defRPr>
            </a:pPr>
            <a:r>
              <a:t>+6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508760"/>
            <a:ext cx="26060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19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0A0E6B"/>
                </a:solidFill>
                <a:latin typeface="Trebuchet MS"/>
              </a:defRPr>
            </a:pPr>
            <a:r>
              <a:t>Annalise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64591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 i="0">
                <a:solidFill>
                  <a:srgbClr val="00C8FF"/>
                </a:solidFill>
                <a:latin typeface="Calibri"/>
              </a:defRPr>
            </a:pPr>
            <a:r>
              <a:t>+100%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574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5E6"/>
                </a:solidFill>
                <a:latin typeface="Trebuchet MS"/>
              </a:rPr>
              <a:t>5</a:t>
            </a:r>
            <a:r>
              <a:rPr sz="1800" b="0" i="0">
                <a:solidFill>
                  <a:srgbClr val="6B708D"/>
                </a:solidFill>
                <a:latin typeface="Calibri"/>
              </a:rPr>
              <a:t>  →  </a:t>
            </a:r>
            <a:r>
              <a:rPr sz="3600" b="1" i="0">
                <a:solidFill>
                  <a:srgbClr val="1A25E6"/>
                </a:solidFill>
                <a:latin typeface="Trebuchet MS"/>
              </a:rPr>
              <a:t>10</a:t>
            </a:r>
            <a:r>
              <a:rPr sz="1100" b="0" i="0">
                <a:solidFill>
                  <a:srgbClr val="6B708D"/>
                </a:solidFill>
                <a:latin typeface="Calibri"/>
              </a:rPr>
              <a:t> laps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788920"/>
            <a:ext cx="1600200" cy="164592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74320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A25E6"/>
                </a:solidFill>
                <a:latin typeface="Calibri"/>
              </a:defRPr>
            </a:pPr>
            <a:r>
              <a:t>+5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508760"/>
            <a:ext cx="26060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45919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0A0E6B"/>
                </a:solidFill>
                <a:latin typeface="Trebuchet MS"/>
              </a:defRPr>
            </a:pPr>
            <a:r>
              <a:t>Graham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64591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 i="0">
                <a:solidFill>
                  <a:srgbClr val="00C8FF"/>
                </a:solidFill>
                <a:latin typeface="Calibri"/>
              </a:defRPr>
            </a:pPr>
            <a:r>
              <a:t>+67%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574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5E6"/>
                </a:solidFill>
                <a:latin typeface="Trebuchet MS"/>
              </a:rPr>
              <a:t>6</a:t>
            </a:r>
            <a:r>
              <a:rPr sz="1800" b="0" i="0">
                <a:solidFill>
                  <a:srgbClr val="6B708D"/>
                </a:solidFill>
                <a:latin typeface="Calibri"/>
              </a:rPr>
              <a:t>  →  </a:t>
            </a:r>
            <a:r>
              <a:rPr sz="3600" b="1" i="0">
                <a:solidFill>
                  <a:srgbClr val="1A25E6"/>
                </a:solidFill>
                <a:latin typeface="Trebuchet MS"/>
              </a:rPr>
              <a:t>10</a:t>
            </a:r>
            <a:r>
              <a:rPr sz="1100" b="0" i="0">
                <a:solidFill>
                  <a:srgbClr val="6B708D"/>
                </a:solidFill>
                <a:latin typeface="Calibri"/>
              </a:rPr>
              <a:t> laps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1280160" cy="164592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74320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A25E6"/>
                </a:solidFill>
                <a:latin typeface="Calibri"/>
              </a:defRPr>
            </a:pPr>
            <a:r>
              <a:t>+4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508760"/>
            <a:ext cx="26060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645919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0A0E6B"/>
                </a:solidFill>
                <a:latin typeface="Trebuchet MS"/>
              </a:defRPr>
            </a:pPr>
            <a:r>
              <a:t>Hana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164591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 i="0">
                <a:solidFill>
                  <a:srgbClr val="00C8FF"/>
                </a:solidFill>
                <a:latin typeface="Calibri"/>
              </a:defRPr>
            </a:pPr>
            <a:r>
              <a:t>+43%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0574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5E6"/>
                </a:solidFill>
                <a:latin typeface="Trebuchet MS"/>
              </a:rPr>
              <a:t>7</a:t>
            </a:r>
            <a:r>
              <a:rPr sz="1800" b="0" i="0">
                <a:solidFill>
                  <a:srgbClr val="6B708D"/>
                </a:solidFill>
                <a:latin typeface="Calibri"/>
              </a:rPr>
              <a:t>  →  </a:t>
            </a:r>
            <a:r>
              <a:rPr sz="3600" b="1" i="0">
                <a:solidFill>
                  <a:srgbClr val="1A25E6"/>
                </a:solidFill>
                <a:latin typeface="Trebuchet MS"/>
              </a:rPr>
              <a:t>10</a:t>
            </a:r>
            <a:r>
              <a:rPr sz="1100" b="0" i="0">
                <a:solidFill>
                  <a:srgbClr val="6B708D"/>
                </a:solidFill>
                <a:latin typeface="Calibri"/>
              </a:rPr>
              <a:t> laps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788920"/>
            <a:ext cx="960119" cy="164592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274320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A25E6"/>
                </a:solidFill>
                <a:latin typeface="Calibri"/>
              </a:defRPr>
            </a:pPr>
            <a:r>
              <a:t>+3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86200"/>
            <a:ext cx="26060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0A0E6B"/>
                </a:solidFill>
                <a:latin typeface="Trebuchet MS"/>
              </a:defRPr>
            </a:pPr>
            <a:r>
              <a:t>Sabrina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0233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 i="0">
                <a:solidFill>
                  <a:srgbClr val="00C8FF"/>
                </a:solidFill>
                <a:latin typeface="Calibri"/>
              </a:defRPr>
            </a:pPr>
            <a:r>
              <a:t>+43%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348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5E6"/>
                </a:solidFill>
                <a:latin typeface="Trebuchet MS"/>
              </a:rPr>
              <a:t>7</a:t>
            </a:r>
            <a:r>
              <a:rPr sz="1800" b="0" i="0">
                <a:solidFill>
                  <a:srgbClr val="6B708D"/>
                </a:solidFill>
                <a:latin typeface="Calibri"/>
              </a:rPr>
              <a:t>  →  </a:t>
            </a:r>
            <a:r>
              <a:rPr sz="3600" b="1" i="0">
                <a:solidFill>
                  <a:srgbClr val="1A25E6"/>
                </a:solidFill>
                <a:latin typeface="Trebuchet MS"/>
              </a:rPr>
              <a:t>10</a:t>
            </a:r>
            <a:r>
              <a:rPr sz="1100" b="0" i="0">
                <a:solidFill>
                  <a:srgbClr val="6B708D"/>
                </a:solidFill>
                <a:latin typeface="Calibri"/>
              </a:rPr>
              <a:t> laps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166360"/>
            <a:ext cx="960119" cy="164592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512064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A25E6"/>
                </a:solidFill>
                <a:latin typeface="Calibri"/>
              </a:defRPr>
            </a:pPr>
            <a:r>
              <a:t>+3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3886200"/>
            <a:ext cx="26060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4023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0A0E6B"/>
                </a:solidFill>
                <a:latin typeface="Trebuchet MS"/>
              </a:defRPr>
            </a:pPr>
            <a:r>
              <a:t>Arthur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0233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 i="0">
                <a:solidFill>
                  <a:srgbClr val="00C8FF"/>
                </a:solidFill>
                <a:latin typeface="Calibri"/>
              </a:defRPr>
            </a:pPr>
            <a:r>
              <a:t>+43%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4348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5E6"/>
                </a:solidFill>
                <a:latin typeface="Trebuchet MS"/>
              </a:rPr>
              <a:t>7</a:t>
            </a:r>
            <a:r>
              <a:rPr sz="1800" b="0" i="0">
                <a:solidFill>
                  <a:srgbClr val="6B708D"/>
                </a:solidFill>
                <a:latin typeface="Calibri"/>
              </a:rPr>
              <a:t>  →  </a:t>
            </a:r>
            <a:r>
              <a:rPr sz="3600" b="1" i="0">
                <a:solidFill>
                  <a:srgbClr val="1A25E6"/>
                </a:solidFill>
                <a:latin typeface="Trebuchet MS"/>
              </a:rPr>
              <a:t>10</a:t>
            </a:r>
            <a:r>
              <a:rPr sz="1100" b="0" i="0">
                <a:solidFill>
                  <a:srgbClr val="6B708D"/>
                </a:solidFill>
                <a:latin typeface="Calibri"/>
              </a:rPr>
              <a:t> laps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5166360"/>
            <a:ext cx="960119" cy="164592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12064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A25E6"/>
                </a:solidFill>
                <a:latin typeface="Calibri"/>
              </a:defRPr>
            </a:pPr>
            <a:r>
              <a:t>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886200"/>
            <a:ext cx="26060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023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0A0E6B"/>
                </a:solidFill>
                <a:latin typeface="Trebuchet MS"/>
              </a:defRPr>
            </a:pPr>
            <a:r>
              <a:t>Lorenzo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0233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 i="0">
                <a:solidFill>
                  <a:srgbClr val="00C8FF"/>
                </a:solidFill>
                <a:latin typeface="Calibri"/>
              </a:defRPr>
            </a:pPr>
            <a:r>
              <a:t>+40%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4348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5E6"/>
                </a:solidFill>
                <a:latin typeface="Trebuchet MS"/>
              </a:rPr>
              <a:t>10</a:t>
            </a:r>
            <a:r>
              <a:rPr sz="1800" b="0" i="0">
                <a:solidFill>
                  <a:srgbClr val="6B708D"/>
                </a:solidFill>
                <a:latin typeface="Calibri"/>
              </a:rPr>
              <a:t>  →  </a:t>
            </a:r>
            <a:r>
              <a:rPr sz="3600" b="1" i="0">
                <a:solidFill>
                  <a:srgbClr val="1A25E6"/>
                </a:solidFill>
                <a:latin typeface="Trebuchet MS"/>
              </a:rPr>
              <a:t>14</a:t>
            </a:r>
            <a:r>
              <a:rPr sz="1100" b="0" i="0">
                <a:solidFill>
                  <a:srgbClr val="6B708D"/>
                </a:solidFill>
                <a:latin typeface="Calibri"/>
              </a:rPr>
              <a:t> laps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166360"/>
            <a:ext cx="1280160" cy="164592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512064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A25E6"/>
                </a:solidFill>
                <a:latin typeface="Calibri"/>
              </a:defRPr>
            </a:pPr>
            <a:r>
              <a:t>+4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400" y="3886200"/>
            <a:ext cx="26060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40233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0A0E6B"/>
                </a:solidFill>
                <a:latin typeface="Trebuchet MS"/>
              </a:defRPr>
            </a:pPr>
            <a:r>
              <a:t>Rexa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40233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500" b="1" i="0">
                <a:solidFill>
                  <a:srgbClr val="00C8FF"/>
                </a:solidFill>
                <a:latin typeface="Calibri"/>
              </a:defRPr>
            </a:pPr>
            <a:r>
              <a:t>+38%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4348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5E6"/>
                </a:solidFill>
                <a:latin typeface="Trebuchet MS"/>
              </a:rPr>
              <a:t>8</a:t>
            </a:r>
            <a:r>
              <a:rPr sz="1800" b="0" i="0">
                <a:solidFill>
                  <a:srgbClr val="6B708D"/>
                </a:solidFill>
                <a:latin typeface="Calibri"/>
              </a:rPr>
              <a:t>  →  </a:t>
            </a:r>
            <a:r>
              <a:rPr sz="3600" b="1" i="0">
                <a:solidFill>
                  <a:srgbClr val="1A25E6"/>
                </a:solidFill>
                <a:latin typeface="Trebuchet MS"/>
              </a:rPr>
              <a:t>11</a:t>
            </a:r>
            <a:r>
              <a:rPr sz="1100" b="0" i="0">
                <a:solidFill>
                  <a:srgbClr val="6B708D"/>
                </a:solidFill>
                <a:latin typeface="Calibri"/>
              </a:rPr>
              <a:t> laps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5166360"/>
            <a:ext cx="960119" cy="164592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9840" y="512064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A25E6"/>
                </a:solidFill>
                <a:latin typeface="Calibri"/>
              </a:defRPr>
            </a:pPr>
            <a:r>
              <a:t>+3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6B708D"/>
                </a:solidFill>
                <a:latin typeface="Calibri"/>
              </a:defRPr>
            </a:pPr>
            <a:r>
              <a:t>Growth % = (Week 4 laps − Week 1 laps) / Week 1 laps.  Week 1: 35 min  •  Week 4: 30 min — improvements happened with less time on the clock.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A0E6B"/>
                </a:solidFill>
                <a:latin typeface="Trebuchet MS"/>
              </a:defRPr>
            </a:pPr>
            <a:r>
              <a:t>Growth by Student — %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1">
                <a:solidFill>
                  <a:srgbClr val="6B708D"/>
                </a:solidFill>
                <a:latin typeface="Calibri"/>
              </a:defRPr>
            </a:pPr>
            <a:r>
              <a:t>Percentage improvement from Week 1 (35 min) to Week 4 (30 min) — lowest to highest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59" y="4424552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9→10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596" y="4424552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9→10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6232" y="4272533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11→13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2868" y="422910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10→12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4185665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9→11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6140" y="4185665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9→11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776" y="4120514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8→10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9412" y="4120514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8→10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4120514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8→10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2684" y="4120514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8→10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120514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8→10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956" y="3838194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8→11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3838194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8→11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9227" y="3838194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8→11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3" y="3794759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10→14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0" y="3729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7→10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3729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7→10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5772" y="3729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7→10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22408" y="3208401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6→10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9043" y="249174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5→10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140589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4→10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1A25E6"/>
                </a:solidFill>
                <a:latin typeface="Calibri"/>
              </a:defRPr>
            </a:pPr>
            <a:r>
              <a:t>Every student improved — even with 5 fewer minutes on the clock.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00C8FF"/>
                </a:solidFill>
                <a:latin typeface="Calibri"/>
              </a:defRPr>
            </a:pPr>
            <a:r>
              <a:t>DID YOU KNOW?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3200" b="1" i="0">
                <a:solidFill>
                  <a:srgbClr val="FFFFFF"/>
                </a:solidFill>
                <a:latin typeface="Trebuchet MS"/>
              </a:defRPr>
            </a:pPr>
            <a:r>
              <a:t>When a kindergartener runs a 5K, it's biomechanically equivalent to an adult running 8–10 miles.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3383280" cy="2560320"/>
          </a:xfrm>
          <a:prstGeom prst="rect">
            <a:avLst/>
          </a:prstGeom>
          <a:solidFill>
            <a:srgbClr val="12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00C8FF"/>
                </a:solidFill>
                <a:latin typeface="Trebuchet MS"/>
              </a:defRPr>
            </a:pPr>
            <a:r>
              <a:t>3×  more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28346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C0CAE8"/>
                </a:solidFill>
                <a:latin typeface="Calibri"/>
              </a:defRPr>
            </a:pPr>
            <a:r>
              <a:t>A 5-year-old's stride is ~1.5 feet vs. an adult's ~4.5 feet. That means roughly 10,000+ steps to cover 3.1 miles — triple what an adult takes.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3657600"/>
            <a:ext cx="3383280" cy="2560320"/>
          </a:xfrm>
          <a:prstGeom prst="rect">
            <a:avLst/>
          </a:prstGeom>
          <a:solidFill>
            <a:srgbClr val="12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384048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00C8FF"/>
                </a:solidFill>
                <a:latin typeface="Trebuchet MS"/>
              </a:defRPr>
            </a:pPr>
            <a:r>
              <a:t>Higher relative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4389120"/>
            <a:ext cx="28346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C0CAE8"/>
                </a:solidFill>
                <a:latin typeface="Calibri"/>
              </a:defRPr>
            </a:pPr>
            <a:r>
              <a:t>Shorter legs mean a higher stride frequency and greater energy cost per pound of body weight. Their little engines are working much harder than 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657600"/>
            <a:ext cx="3383280" cy="2560320"/>
          </a:xfrm>
          <a:prstGeom prst="rect">
            <a:avLst/>
          </a:prstGeom>
          <a:solidFill>
            <a:srgbClr val="12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84048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00C8FF"/>
                </a:solidFill>
                <a:latin typeface="Trebuchet MS"/>
              </a:defRPr>
            </a:pPr>
            <a:r>
              <a:t>Still growing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389120"/>
            <a:ext cx="28346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C0CAE8"/>
                </a:solidFill>
                <a:latin typeface="Calibri"/>
              </a:defRPr>
            </a:pPr>
            <a:r>
              <a:t>Developing bones, muscles, and cardiovascular systems mean every mile demands proportionally more from a child's body than an adult's.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0A0E6B"/>
                </a:solidFill>
                <a:latin typeface="Trebuchet MS"/>
              </a:defRPr>
            </a:pPr>
            <a:r>
              <a:t>What's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6B708D"/>
                </a:solidFill>
                <a:latin typeface="Calibri"/>
              </a:defRPr>
            </a:pPr>
            <a:r>
              <a:t>Weeks 5–11  •  The road to 3.1 miles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91440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Weeks 5–6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C0CAE8"/>
                </a:solidFill>
                <a:latin typeface="Calibri"/>
              </a:defRPr>
            </a:pPr>
            <a:r>
              <a:t>Tokyo &amp; Beyond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737360"/>
            <a:ext cx="8595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74519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Building sustained distance. Students begin running longer continuous segments with fewer walk breaks.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828800" cy="91440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Weeks 7–8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C0CAE8"/>
                </a:solidFill>
                <a:latin typeface="Calibri"/>
              </a:defRPr>
            </a:pPr>
            <a:r>
              <a:t>Campaign Intensifies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926080"/>
            <a:ext cx="8595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06324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Team territories expand. Individual lap targets increase. The 5K distance becomes a realistic weekly goal.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828800" cy="91440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Weeks 9–10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C0CAE8"/>
                </a:solidFill>
                <a:latin typeface="Calibri"/>
              </a:defRPr>
            </a:pPr>
            <a:r>
              <a:t>Dress Rehearsal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114800"/>
            <a:ext cx="8595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2519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Full 5K practice runs. Pacing strategy refinement. Mental preparation for race 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03520"/>
            <a:ext cx="1828800" cy="91440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Week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5K Race 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5303520"/>
            <a:ext cx="8595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544068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The culminating event. Every student runs 3.1 miles. Families are invited to cheer them across the finish 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2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600"/>
              </a:lnSpc>
              <a:defRPr sz="3400" b="1" i="0">
                <a:solidFill>
                  <a:srgbClr val="FFFFFF"/>
                </a:solidFill>
                <a:latin typeface="Trebuchet MS"/>
              </a:defRPr>
            </a:pPr>
            <a:r>
              <a:t>Your child is learning that they are</a:t>
            </a:r>
            <a:br/>
            <a:r>
              <a:t>capable of more than they thought.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 i="1">
                <a:solidFill>
                  <a:srgbClr val="00C8FF"/>
                </a:solidFill>
                <a:latin typeface="Georgia"/>
              </a:defRPr>
            </a:pPr>
            <a:r>
              <a:t>That lesson will outlast any lap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0">
                <a:solidFill>
                  <a:srgbClr val="8DA0D4"/>
                </a:solidFill>
                <a:latin typeface="Calibri"/>
              </a:defRPr>
            </a:pPr>
            <a:r>
              <a:t>Thank you for trusting us with their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7078A0"/>
                </a:solidFill>
                <a:latin typeface="Calibri"/>
              </a:defRPr>
            </a:pPr>
            <a:r>
              <a:t>All Around the World 5K  •  LifeCore Workshop Series  •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